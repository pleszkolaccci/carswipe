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58200" y="914400"/>
            <a:ext cx="2377440" cy="3246120"/>
          </a:xfrm>
          <a:prstGeom prst="roundRect">
            <a:avLst/>
          </a:prstGeom>
          <a:solidFill>
            <a:srgbClr val="22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21240" y="1508760"/>
            <a:ext cx="1417320" cy="2286000"/>
          </a:xfrm>
          <a:prstGeom prst="round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2440" y="2743200"/>
            <a:ext cx="1920240" cy="2423160"/>
          </a:xfrm>
          <a:prstGeom prst="roundRect">
            <a:avLst/>
          </a:prstGeom>
          <a:solidFill>
            <a:srgbClr val="49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69494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VIZSGAREMEK • PROJEKTTERV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132320" cy="1325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F6F8FC"/>
                </a:solidFill>
                <a:latin typeface="Aptos"/>
              </a:rPr>
              <a:t>Használtautó-
Tinder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6766560" cy="7772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B4C0D3"/>
                </a:solidFill>
                <a:latin typeface="Aptos"/>
              </a:rPr>
              <a:t>Autókereső webalkalmazás, ahol a felhasználók
jobbra-balra húzással jelölhetik az autókat.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704088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8FC"/>
                </a:solidFill>
                <a:latin typeface="Aptos"/>
              </a:rPr>
              <a:t>React + JavaScript  •  ASP.NET Core  • 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658368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4C0D3"/>
                </a:solidFill>
                <a:latin typeface="Aptos"/>
              </a:rPr>
              <a:t>Előkészítési terv • Határidő: október 29.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01 • PROJEKTÖTLET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Mi az a Használtautó-Tinder?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1874519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938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A probléma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KIINDULÁS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3017520" cy="97840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A hagyományos autókeresőkben sok hirdetést kell végignézni, mire a felhasználó megtalálja a számára érdekes autókat.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1874519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938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A megoldás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9514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FŐ FUNKCIÓ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87752"/>
            <a:ext cx="3017520" cy="97840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Kártyás felület: a felhasználó jobbra húzással kedvencek közé tesz, balra húzással elutasít egy autót.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383280" cy="1874519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938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A cél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9514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FELHASZNÁLÓI ÉLMÉNY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87752"/>
            <a:ext cx="3017520" cy="97840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Gyorsabb, játékosabb autókeresés, személyre szabott preferenciákkal és elmentett kedvencekkel.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9DCCF"/>
                </a:solidFill>
                <a:latin typeface="Aptos"/>
              </a:rPr>
              <a:t>Lehetséges fő funkciók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6F8FC"/>
                </a:solidFill>
                <a:latin typeface="Aptos"/>
              </a:defRPr>
            </a:pPr>
            <a:r>
              <a:t>•  Autók böngészése és részletes adatlap megnyitása</a:t>
            </a:r>
          </a:p>
          <a:p>
            <a:pPr>
              <a:spcAft>
                <a:spcPts val="1000"/>
              </a:spcAft>
              <a:defRPr sz="1500">
                <a:solidFill>
                  <a:srgbClr val="F6F8FC"/>
                </a:solidFill>
                <a:latin typeface="Aptos"/>
              </a:defRPr>
            </a:pPr>
            <a:r>
              <a:t>•  Jobbra / balra húzás, kedvencek mentése</a:t>
            </a:r>
          </a:p>
          <a:p>
            <a:pPr>
              <a:spcAft>
                <a:spcPts val="1000"/>
              </a:spcAft>
              <a:defRPr sz="1500">
                <a:solidFill>
                  <a:srgbClr val="F6F8FC"/>
                </a:solidFill>
                <a:latin typeface="Aptos"/>
              </a:defRPr>
            </a:pPr>
            <a:r>
              <a:t>•  Szűrés ár, évjárat, futásteljesítmény, üzemanyag és márka alapján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02 • TECHNOLÓGIÁK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Ajánlott technológiai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4086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FELHASZNÁLÓI FELÜLET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3017520" cy="120700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React + JavaScript
HTML + CSS
Reszponzív, kártyás felület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1031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7510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4086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ÜZLETI LOGIKA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33472"/>
            <a:ext cx="3017520" cy="120700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ASP.NET Core Web API
C#
REST API végpontok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1031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7510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Adatbázis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4086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ADATTÁROLÁS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33472"/>
            <a:ext cx="3017520" cy="120700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PostgreSQL
Entity Framework Core
Npgsql adatbázis-provider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9DCCF"/>
                </a:solidFill>
                <a:latin typeface="Aptos"/>
              </a:rPr>
              <a:t>Miért ez az adatbázis?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9472"/>
            <a:ext cx="102412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6F8FC"/>
                </a:solidFill>
                <a:latin typeface="Aptos"/>
              </a:defRPr>
            </a:pPr>
            <a:r>
              <a:t>•  Ingyenes, nyílt forráskódú és érett relációs adatbázis.</a:t>
            </a:r>
          </a:p>
          <a:p>
            <a:pPr>
              <a:spcAft>
                <a:spcPts val="500"/>
              </a:spcAft>
              <a:defRPr sz="1400">
                <a:solidFill>
                  <a:srgbClr val="F6F8FC"/>
                </a:solidFill>
                <a:latin typeface="Aptos"/>
              </a:defRPr>
            </a:pPr>
            <a:r>
              <a:t>•  Jól illik a C# / ASP.NET Core backendhez; EF Core-ral kényelmesen kezelhető.</a:t>
            </a:r>
          </a:p>
          <a:p>
            <a:pPr>
              <a:spcAft>
                <a:spcPts val="500"/>
              </a:spcAft>
              <a:defRPr sz="1400">
                <a:solidFill>
                  <a:srgbClr val="F6F8FC"/>
                </a:solidFill>
                <a:latin typeface="Aptos"/>
              </a:defRPr>
            </a:pPr>
            <a:r>
              <a:t>•  A felhasználók, autók, kedvencek és szűrési adatok táblákban jól modellezhetők.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03 •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Melyik feladathoz melyik program kell?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60020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Trello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942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PROJEKTMENEDZSMENT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3017520" cy="7040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Feladatkártyák, felelősök, határidők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160020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8366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942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KÓDTÁR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42032"/>
            <a:ext cx="3017520" cy="7040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Forráskód, verziókezelés, csapatmunka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160020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8366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Figma / diagrams.net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942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TERVEZÉS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42032"/>
            <a:ext cx="3017520" cy="7040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Drótvázak, képernyőtervek és folyamatábrák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3383280" cy="160020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962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Visual Studio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3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07992"/>
            <a:ext cx="3017520" cy="7040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React frontend fejlesztése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03320"/>
            <a:ext cx="3383280" cy="160020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4962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Visual Studio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15383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07992"/>
            <a:ext cx="3017520" cy="7040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ASP.NET Core backend fejlesztése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03320"/>
            <a:ext cx="3383280" cy="160020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4962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Word + PowerPoint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15383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LEADANDÓK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07992"/>
            <a:ext cx="3017520" cy="7040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Dokumentáció és bemutató elkészítése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3327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963"/>
                </a:solidFill>
                <a:latin typeface="Aptos"/>
              </a:rPr>
              <a:t>Opcionális: GitHub Desktop a Git könnyebb, grafikus kezeléséhez.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04 •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Repository és mappaszerkezet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1206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9DCCF"/>
                </a:solidFill>
                <a:latin typeface="Aptos"/>
              </a:rPr>
              <a:t>Repository: Vizsgaremek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54864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6F8FC"/>
                </a:solidFill>
                <a:latin typeface="Cascadia Code"/>
              </a:rPr>
              <a:t>Vizsgaremek/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06624"/>
            <a:ext cx="54864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4C0D3"/>
                </a:solidFill>
                <a:latin typeface="Cascadia Code"/>
              </a:rPr>
              <a:t>├── backend/        # ASP.NET Core Web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45536"/>
            <a:ext cx="54864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4C0D3"/>
                </a:solidFill>
                <a:latin typeface="Cascadia Code"/>
              </a:rPr>
              <a:t>├── frontend/       # React +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84448"/>
            <a:ext cx="54864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4C0D3"/>
                </a:solidFill>
                <a:latin typeface="Cascadia Code"/>
              </a:rPr>
              <a:t>├── adatbazis/      # SQL, diagram, seed adatok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4864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4C0D3"/>
                </a:solidFill>
                <a:latin typeface="Cascadia Code"/>
              </a:rPr>
              <a:t>├── dokumentacio/   # Word, drótváz, források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54864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4C0D3"/>
                </a:solidFill>
                <a:latin typeface="Cascadia Code"/>
              </a:rPr>
              <a:t>├── teszt/          # tesztek és tesztjegyzőkönyv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01183"/>
            <a:ext cx="54864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4C0D3"/>
                </a:solidFill>
                <a:latin typeface="Cascadia Code"/>
              </a:rPr>
              <a:t>└── README.md       # projektleírás és indítás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965960"/>
            <a:ext cx="4389120" cy="150876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112264"/>
            <a:ext cx="4023359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Közös szabályok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478024"/>
            <a:ext cx="4023359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VERZIÓKEZELÉS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770632"/>
            <a:ext cx="4023359" cy="6126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Kisebb, érthető commitok; beszédes ág- és fájlnevek; rendszeres feltöltés.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794760"/>
            <a:ext cx="4389120" cy="150876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941064"/>
            <a:ext cx="4023359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README.md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306824"/>
            <a:ext cx="4023359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INDÍTÁSI ÚTMUTATÓ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599432"/>
            <a:ext cx="4023359" cy="6126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Rövid projektleírás, technológiák, telepítés és futtatás lépései.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05 • TERVEZÉS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A főoldal drótváza –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4892040" cy="4160520"/>
          </a:xfrm>
          <a:prstGeom prst="roundRect">
            <a:avLst/>
          </a:prstGeom>
          <a:solidFill>
            <a:srgbClr val="182135"/>
          </a:solidFill>
          <a:ln>
            <a:solidFill>
              <a:srgbClr val="B4C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438912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HASZNÁLTAUTÓ-TINDER  |  KERESÉS  KEDVENCEK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423160"/>
            <a:ext cx="2743200" cy="2331720"/>
          </a:xfrm>
          <a:prstGeom prst="roundRect">
            <a:avLst/>
          </a:prstGeom>
          <a:solidFill>
            <a:srgbClr val="222F48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697480"/>
            <a:ext cx="22860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4C0D3"/>
                </a:solidFill>
                <a:latin typeface="Aptos"/>
              </a:rPr>
              <a:t>AUTÓKÉP HELYE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37560"/>
            <a:ext cx="228600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F8FC"/>
                </a:solidFill>
                <a:latin typeface="Aptos"/>
              </a:rPr>
              <a:t>2018 • 1.6 dízel
120 000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977639"/>
            <a:ext cx="22860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9DCCF"/>
                </a:solidFill>
                <a:latin typeface="Aptos"/>
              </a:rPr>
              <a:t>4 250 000 Ft</a:t>
            </a:r>
          </a:p>
        </p:txBody>
      </p:sp>
      <p:sp>
        <p:nvSpPr>
          <p:cNvPr id="12" name="Oval 11"/>
          <p:cNvSpPr/>
          <p:nvPr/>
        </p:nvSpPr>
        <p:spPr>
          <a:xfrm>
            <a:off x="1920240" y="4983480"/>
            <a:ext cx="594360" cy="594360"/>
          </a:xfrm>
          <a:prstGeom prst="ellipse">
            <a:avLst/>
          </a:prstGeom>
          <a:solidFill>
            <a:srgbClr val="EF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5102352"/>
            <a:ext cx="5943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✕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0" y="4983480"/>
            <a:ext cx="594360" cy="594360"/>
          </a:xfrm>
          <a:prstGeom prst="ellipse">
            <a:avLst/>
          </a:prstGeom>
          <a:solidFill>
            <a:srgbClr val="49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5102352"/>
            <a:ext cx="5943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49377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9DCCF"/>
                </a:solidFill>
                <a:latin typeface="Aptos"/>
              </a:rPr>
              <a:t>Tervezendő képernyők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31720"/>
            <a:ext cx="5120640" cy="3108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6F8FC"/>
                </a:solidFill>
                <a:latin typeface="Aptos"/>
              </a:defRPr>
            </a:pPr>
            <a:r>
              <a:t>•  Főoldal / autókártyák</a:t>
            </a:r>
          </a:p>
          <a:p>
            <a:pPr>
              <a:spcAft>
                <a:spcPts val="900"/>
              </a:spcAft>
              <a:defRPr sz="1600">
                <a:solidFill>
                  <a:srgbClr val="F6F8FC"/>
                </a:solidFill>
                <a:latin typeface="Aptos"/>
              </a:defRPr>
            </a:pPr>
            <a:r>
              <a:t>•  Szűrők és keresés</a:t>
            </a:r>
          </a:p>
          <a:p>
            <a:pPr>
              <a:spcAft>
                <a:spcPts val="900"/>
              </a:spcAft>
              <a:defRPr sz="1600">
                <a:solidFill>
                  <a:srgbClr val="F6F8FC"/>
                </a:solidFill>
                <a:latin typeface="Aptos"/>
              </a:defRPr>
            </a:pPr>
            <a:r>
              <a:t>•  Autó részletes adatlapja</a:t>
            </a:r>
          </a:p>
          <a:p>
            <a:pPr>
              <a:spcAft>
                <a:spcPts val="900"/>
              </a:spcAft>
              <a:defRPr sz="1600">
                <a:solidFill>
                  <a:srgbClr val="F6F8FC"/>
                </a:solidFill>
                <a:latin typeface="Aptos"/>
              </a:defRPr>
            </a:pPr>
            <a:r>
              <a:t>•  Bejelentkezés és regisztráció</a:t>
            </a:r>
          </a:p>
          <a:p>
            <a:pPr>
              <a:spcAft>
                <a:spcPts val="900"/>
              </a:spcAft>
              <a:defRPr sz="1600">
                <a:solidFill>
                  <a:srgbClr val="F6F8FC"/>
                </a:solidFill>
                <a:latin typeface="Aptos"/>
              </a:defRPr>
            </a:pPr>
            <a:r>
              <a:t>•  Kedvencek listája</a:t>
            </a:r>
          </a:p>
          <a:p>
            <a:pPr>
              <a:spcAft>
                <a:spcPts val="900"/>
              </a:spcAft>
              <a:defRPr sz="1600">
                <a:solidFill>
                  <a:srgbClr val="F6F8FC"/>
                </a:solidFill>
                <a:latin typeface="Aptos"/>
              </a:defRPr>
            </a:pPr>
            <a:r>
              <a:t>•  Profil és preferenciák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715000"/>
            <a:ext cx="50292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963"/>
                </a:solidFill>
                <a:latin typeface="Aptos"/>
              </a:rPr>
              <a:t>A végleges drótváz kerüljön fel a Trellóra 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06 • ADATBÁZIS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PostgreSQL – javasolt adatmodell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240280" cy="1417320"/>
          </a:xfrm>
          <a:prstGeom prst="roundRect">
            <a:avLst/>
          </a:prstGeom>
          <a:solidFill>
            <a:srgbClr val="182135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29968"/>
            <a:ext cx="2020824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9DCCF"/>
                </a:solidFill>
                <a:latin typeface="Apto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1965960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B4C0D3"/>
                </a:solidFill>
                <a:latin typeface="Aptos"/>
              </a:rPr>
              <a:t>Id (PK)
Email
PasswordHash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920240"/>
            <a:ext cx="2423160" cy="1600200"/>
          </a:xfrm>
          <a:prstGeom prst="roundRect">
            <a:avLst/>
          </a:prstGeom>
          <a:solidFill>
            <a:srgbClr val="182135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95928" y="2029968"/>
            <a:ext cx="2203704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9DCCF"/>
                </a:solidFill>
                <a:latin typeface="Aptos"/>
              </a:rPr>
              <a:t>CARS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95728"/>
            <a:ext cx="2148840" cy="10515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B4C0D3"/>
                </a:solidFill>
                <a:latin typeface="Aptos"/>
              </a:rPr>
              <a:t>Id (PK)
Make, Model
Year, Price, Mileage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920240"/>
            <a:ext cx="2468880" cy="1417320"/>
          </a:xfrm>
          <a:prstGeom prst="roundRect">
            <a:avLst/>
          </a:prstGeom>
          <a:solidFill>
            <a:srgbClr val="182135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2029968"/>
            <a:ext cx="2249424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9DCCF"/>
                </a:solidFill>
                <a:latin typeface="Aptos"/>
              </a:rPr>
              <a:t>FAVORITES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395728"/>
            <a:ext cx="2194560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B4C0D3"/>
                </a:solidFill>
                <a:latin typeface="Aptos"/>
              </a:rPr>
              <a:t>UserId (FK)
CarId (FK)
CreatedAt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3240" y="2606040"/>
            <a:ext cx="822960" cy="0"/>
          </a:xfrm>
          <a:prstGeom prst="line">
            <a:avLst/>
          </a:prstGeom>
          <a:ln w="25400">
            <a:solidFill>
              <a:srgbClr val="49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09360" y="2606040"/>
            <a:ext cx="1005840" cy="0"/>
          </a:xfrm>
          <a:prstGeom prst="line">
            <a:avLst/>
          </a:prstGeom>
          <a:ln w="25400">
            <a:solidFill>
              <a:srgbClr val="49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06908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9DCCF"/>
                </a:solidFill>
                <a:latin typeface="Aptos"/>
              </a:rPr>
              <a:t>Kezdeti táblák – a követelmények alapján bővíthetők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10241280" cy="1325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6F8FC"/>
                </a:solidFill>
                <a:latin typeface="Aptos"/>
              </a:defRPr>
            </a:pPr>
            <a:r>
              <a:t>•  Users: regisztrált felhasználók; a jelszót csak biztonságos hash formájában tároljuk.</a:t>
            </a:r>
          </a:p>
          <a:p>
            <a:pPr>
              <a:spcAft>
                <a:spcPts val="500"/>
              </a:spcAft>
              <a:defRPr sz="1400">
                <a:solidFill>
                  <a:srgbClr val="F6F8FC"/>
                </a:solidFill>
                <a:latin typeface="Aptos"/>
              </a:defRPr>
            </a:pPr>
            <a:r>
              <a:t>•  Cars: autóadatok, például márka, modell, évjárat, ár, futásteljesítmény, üzemanyag.</a:t>
            </a:r>
          </a:p>
          <a:p>
            <a:pPr>
              <a:spcAft>
                <a:spcPts val="500"/>
              </a:spcAft>
              <a:defRPr sz="1400">
                <a:solidFill>
                  <a:srgbClr val="F6F8FC"/>
                </a:solidFill>
                <a:latin typeface="Aptos"/>
              </a:defRPr>
            </a:pPr>
            <a:r>
              <a:t>•  Favorites: kapcsolat a felhasználó és a kedvenc autó között.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07 • OLDALLOGIKA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Hogyan működik a felhasználói folyamat?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2468880" cy="1920240"/>
          </a:xfrm>
          <a:prstGeom prst="roundRect">
            <a:avLst/>
          </a:prstGeom>
          <a:solidFill>
            <a:srgbClr val="182135"/>
          </a:solidFill>
          <a:ln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50592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2194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Megnyitás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01568"/>
            <a:ext cx="2139696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Autókártyák betöltése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49DCC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468880" cy="1920240"/>
          </a:xfrm>
          <a:prstGeom prst="roundRect">
            <a:avLst/>
          </a:prstGeom>
          <a:solidFill>
            <a:srgbClr val="182135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450592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880360"/>
            <a:ext cx="2194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Döntés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401568"/>
            <a:ext cx="2139696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Jobbra: kedvenc
Balra: elutasítás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92608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49DCC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240280"/>
            <a:ext cx="2468880" cy="1920240"/>
          </a:xfrm>
          <a:prstGeom prst="roundRect">
            <a:avLst/>
          </a:prstGeom>
          <a:solidFill>
            <a:srgbClr val="182135"/>
          </a:solidFill>
          <a:ln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50592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80360"/>
            <a:ext cx="2194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Mentés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401568"/>
            <a:ext cx="2139696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Kedvenc eltárolása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92608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49DCC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240280"/>
            <a:ext cx="2468880" cy="1920240"/>
          </a:xfrm>
          <a:prstGeom prst="roundRect">
            <a:avLst/>
          </a:prstGeom>
          <a:solidFill>
            <a:srgbClr val="182135"/>
          </a:solidFill>
          <a:ln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450592"/>
            <a:ext cx="21945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880360"/>
            <a:ext cx="2194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Visszakeresés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3401568"/>
            <a:ext cx="2139696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Kedvencek és szűrők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8FC"/>
                </a:solidFill>
                <a:latin typeface="Aptos"/>
              </a:rPr>
              <a:t>A frontend az ASP.NET Core API-t hívja; az API ellenőrzi a kéréseket és az adatbázissal kommunikál.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102412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A tényleges működést és a képernyőket a csapat igényei szerint pontosítsátok.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08 • DOKUMENTÁCIÓ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Az 5–7 oldalas Word-dokumentum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691640" cy="530352"/>
          </a:xfrm>
          <a:prstGeom prst="roundRect">
            <a:avLst/>
          </a:prstGeom>
          <a:solidFill>
            <a:srgbClr val="222F48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15087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1. oldal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847088"/>
            <a:ext cx="822960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6F8FC"/>
                </a:solidFill>
                <a:latin typeface="Aptos"/>
              </a:rPr>
              <a:t>Címlap: vizsgaremek címe és csapattagok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87752"/>
            <a:ext cx="1691640" cy="530352"/>
          </a:xfrm>
          <a:prstGeom prst="roundRect">
            <a:avLst/>
          </a:prstGeom>
          <a:solidFill>
            <a:srgbClr val="222F48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5087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2. oldal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679192"/>
            <a:ext cx="822960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6F8FC"/>
                </a:solidFill>
                <a:latin typeface="Aptos"/>
              </a:rPr>
              <a:t>Automatikus, oldalszámozott tartalomjegyzék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19856"/>
            <a:ext cx="1691640" cy="530352"/>
          </a:xfrm>
          <a:prstGeom prst="roundRect">
            <a:avLst/>
          </a:prstGeom>
          <a:solidFill>
            <a:srgbClr val="222F48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57016"/>
            <a:ext cx="15087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3. oldal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511296"/>
            <a:ext cx="822960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6F8FC"/>
                </a:solidFill>
                <a:latin typeface="Aptos"/>
              </a:rPr>
              <a:t>A Használtautó-Tinder rövid bemutatása (0,5–1 oldal)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1691640" cy="530352"/>
          </a:xfrm>
          <a:prstGeom prst="roundRect">
            <a:avLst/>
          </a:prstGeom>
          <a:solidFill>
            <a:srgbClr val="222F48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5087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4–6. oldal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343400"/>
            <a:ext cx="822960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6F8FC"/>
                </a:solidFill>
                <a:latin typeface="Aptos"/>
              </a:rPr>
              <a:t>Fejlesztői környezet, technológiák és saját képernyőképek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84064"/>
            <a:ext cx="1691640" cy="530352"/>
          </a:xfrm>
          <a:prstGeom prst="roundRect">
            <a:avLst/>
          </a:prstGeom>
          <a:solidFill>
            <a:srgbClr val="222F48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21224"/>
            <a:ext cx="15087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9DCCF"/>
                </a:solidFill>
                <a:latin typeface="Aptos"/>
              </a:rPr>
              <a:t>Vége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5175504"/>
            <a:ext cx="822960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6F8FC"/>
                </a:solidFill>
                <a:latin typeface="Aptos"/>
              </a:rPr>
              <a:t>Irodalomjegyzék: a felhasznált hivatalos dokumentációk linkjei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53328"/>
            <a:ext cx="104241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963"/>
                </a:solidFill>
                <a:latin typeface="Aptos"/>
              </a:rPr>
              <a:t>Word: a címsorokhoz használd a Címsor 1 / Címsor 2 stílust, majd szúrd be az automatikus tartalomjegyzéket.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09 • FELADATKIOSZTÁS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Javasolt Trello-kártyák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14173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938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Projektindítás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ALAPOK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3017520" cy="5212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Repository, mappák, README, csapattagok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14173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938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Drótváz és oldallogika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9514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TERVEZÉS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87752"/>
            <a:ext cx="3017520" cy="5212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Főoldal, autókártya, szűrők, profil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383280" cy="14173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938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Adatmodell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9514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ADATBÁZIS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87752"/>
            <a:ext cx="3017520" cy="5212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Users, Cars, Favorites táblák tervezése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83280" cy="14173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0390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Fejlesztői környezet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966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DOKUMENTÁCIÓ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3017520" cy="5212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React, .NET, PostgreSQL bemutatása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57600"/>
            <a:ext cx="3383280" cy="14173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0390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Word-dokumentum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6966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LEADANDÓ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62272"/>
            <a:ext cx="3017520" cy="5212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5–7 oldal, tartalomjegyzék, források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57600"/>
            <a:ext cx="3383280" cy="141732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03904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Prezentáció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69664"/>
            <a:ext cx="301752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PPT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462272"/>
            <a:ext cx="3017520" cy="5212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Projektötlet, tervek, készültség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9DCCF"/>
                </a:solidFill>
                <a:latin typeface="Aptos"/>
              </a:rPr>
              <a:t>Minden kártyához rendelj felelőst, határidőt, ellenőrzőlistát és szükség esetén mellékletet.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10 • ÜTEMTERV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Javasolt haladás október 29-ig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48840"/>
            <a:ext cx="2148840" cy="2468880"/>
          </a:xfrm>
          <a:prstGeom prst="roundRect">
            <a:avLst/>
          </a:prstGeom>
          <a:solidFill>
            <a:srgbClr val="182135"/>
          </a:solidFill>
          <a:ln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9DCCF"/>
                </a:solidFill>
                <a:latin typeface="Aptos"/>
              </a:rPr>
              <a:t>OKT. 11–13.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80360"/>
            <a:ext cx="19659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6F8FC"/>
                </a:solidFill>
                <a:latin typeface="Aptos"/>
              </a:rPr>
              <a:t>Projektalapok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474720"/>
            <a:ext cx="1929384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Trello, GitHub,
mappaszerkezet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2148840"/>
            <a:ext cx="2148840" cy="2468880"/>
          </a:xfrm>
          <a:prstGeom prst="roundRect">
            <a:avLst/>
          </a:prstGeom>
          <a:solidFill>
            <a:srgbClr val="182135"/>
          </a:solidFill>
          <a:ln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395728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9DCCF"/>
                </a:solidFill>
                <a:latin typeface="Aptos"/>
              </a:rPr>
              <a:t>OKT. 14–17.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880360"/>
            <a:ext cx="19659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6F8FC"/>
                </a:solidFill>
                <a:latin typeface="Aptos"/>
              </a:rPr>
              <a:t>Tervezés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474720"/>
            <a:ext cx="1929384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Drótvázak,
menük, oldallogika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2148840"/>
            <a:ext cx="2148840" cy="2468880"/>
          </a:xfrm>
          <a:prstGeom prst="roundRect">
            <a:avLst/>
          </a:prstGeom>
          <a:solidFill>
            <a:srgbClr val="182135"/>
          </a:solidFill>
          <a:ln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7" y="2395728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9DCCF"/>
                </a:solidFill>
                <a:latin typeface="Aptos"/>
              </a:rPr>
              <a:t>OKT. 18–22.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2880360"/>
            <a:ext cx="19659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6F8FC"/>
                </a:solidFill>
                <a:latin typeface="Aptos"/>
              </a:rPr>
              <a:t>Dokumentáció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3474720"/>
            <a:ext cx="1929384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Word, képek,
források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62088" y="2148840"/>
            <a:ext cx="2148840" cy="2468880"/>
          </a:xfrm>
          <a:prstGeom prst="roundRect">
            <a:avLst/>
          </a:prstGeom>
          <a:solidFill>
            <a:srgbClr val="182135"/>
          </a:solidFill>
          <a:ln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7" y="2395728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9DCCF"/>
                </a:solidFill>
                <a:latin typeface="Aptos"/>
              </a:rPr>
              <a:t>OKT. 23–26.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7" y="2880360"/>
            <a:ext cx="19659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6F8FC"/>
                </a:solidFill>
                <a:latin typeface="Aptos"/>
              </a:rPr>
              <a:t>Prezentáció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5" y="3474720"/>
            <a:ext cx="1929384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PPT és
véglegesítés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3807" y="2148840"/>
            <a:ext cx="2148840" cy="2468880"/>
          </a:xfrm>
          <a:prstGeom prst="roundRect">
            <a:avLst/>
          </a:prstGeom>
          <a:solidFill>
            <a:srgbClr val="182135"/>
          </a:solidFill>
          <a:ln>
            <a:solidFill>
              <a:srgbClr val="49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5247" y="2395728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9DCCF"/>
                </a:solidFill>
                <a:latin typeface="Aptos"/>
              </a:rPr>
              <a:t>OKT. 27–29.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7" y="2880360"/>
            <a:ext cx="19659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6F8FC"/>
                </a:solidFill>
                <a:latin typeface="Aptos"/>
              </a:rPr>
              <a:t>Ellenőrzés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3535" y="3474720"/>
            <a:ext cx="1929384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Linkek, fájlok,
bemutatás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1033272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C963"/>
                </a:solidFill>
                <a:latin typeface="Aptos"/>
              </a:rPr>
              <a:t>A határidő október 29. – a pontos dátumokat a tanár által megadott követelményekhez igazítsátok.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9DCCF"/>
                </a:solidFill>
                <a:latin typeface="Aptos"/>
              </a:rPr>
              <a:t>11 • ÖSSZEGZÉS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8FC"/>
                </a:solidFill>
                <a:latin typeface="Aptos"/>
              </a:rPr>
              <a:t>Következő lépések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4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0D3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6400800" cy="3200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6F8FC"/>
                </a:solidFill>
                <a:latin typeface="Aptos"/>
              </a:defRPr>
            </a:pPr>
            <a:r>
              <a:t>•  Trello és GitHub projekt létrehozása</a:t>
            </a:r>
          </a:p>
          <a:p>
            <a:pPr>
              <a:spcAft>
                <a:spcPts val="1300"/>
              </a:spcAft>
              <a:defRPr sz="1700">
                <a:solidFill>
                  <a:srgbClr val="F6F8FC"/>
                </a:solidFill>
                <a:latin typeface="Aptos"/>
              </a:defRPr>
            </a:pPr>
            <a:r>
              <a:t>•  A képernyők és menüpontok drótvázának elkészítése</a:t>
            </a:r>
          </a:p>
          <a:p>
            <a:pPr>
              <a:spcAft>
                <a:spcPts val="1300"/>
              </a:spcAft>
              <a:defRPr sz="1700">
                <a:solidFill>
                  <a:srgbClr val="F6F8FC"/>
                </a:solidFill>
                <a:latin typeface="Aptos"/>
              </a:defRPr>
            </a:pPr>
            <a:r>
              <a:t>•  A PostgreSQL adatmodell első változata</a:t>
            </a:r>
          </a:p>
          <a:p>
            <a:pPr>
              <a:spcAft>
                <a:spcPts val="1300"/>
              </a:spcAft>
              <a:defRPr sz="1700">
                <a:solidFill>
                  <a:srgbClr val="F6F8FC"/>
                </a:solidFill>
                <a:latin typeface="Aptos"/>
              </a:defRPr>
            </a:pPr>
            <a:r>
              <a:t>•  A Word-dokumentáció és a PPT folyamatos frissítése</a:t>
            </a:r>
          </a:p>
          <a:p>
            <a:pPr>
              <a:spcAft>
                <a:spcPts val="1300"/>
              </a:spcAft>
              <a:defRPr sz="1700">
                <a:solidFill>
                  <a:srgbClr val="F6F8FC"/>
                </a:solidFill>
                <a:latin typeface="Aptos"/>
              </a:defRPr>
            </a:pPr>
            <a:r>
              <a:t>•  A csapaton belüli felelősök és határidők rögzítése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28800"/>
            <a:ext cx="3474720" cy="2240280"/>
          </a:xfrm>
          <a:prstGeom prst="roundRect">
            <a:avLst/>
          </a:prstGeom>
          <a:solidFill>
            <a:srgbClr val="182135"/>
          </a:solidFill>
          <a:ln w="12700">
            <a:solidFill>
              <a:srgbClr val="22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19" y="1975104"/>
            <a:ext cx="31089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8FC"/>
                </a:solidFill>
                <a:latin typeface="Aptos"/>
              </a:rPr>
              <a:t>Hivatalos források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2340864"/>
            <a:ext cx="310896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9DCCF"/>
                </a:solidFill>
                <a:latin typeface="Aptos"/>
              </a:rPr>
              <a:t>IRODALOMJEGYZÉK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633472"/>
            <a:ext cx="3108960" cy="1344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React: react.dev
ASP.NET Core: learn.microsoft.com/aspnet/core
PostgreSQL: postgresql.org
EF Core: learn.microsoft.com/ef/core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69280"/>
            <a:ext cx="10424160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4C0D3"/>
                </a:solidFill>
                <a:latin typeface="Aptos"/>
              </a:rPr>
              <a:t>A bemutató a projekt előkészítését foglalja össze; a pontos funkciókat a csapat véglegesíti.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